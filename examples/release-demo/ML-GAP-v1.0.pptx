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78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90495" y="685783"/>
            <a:ext cx="5448164" cy="1981150"/>
          </a:xfrm>
          <a:prstGeom prst="roundRect">
            <a:avLst>
              <a:gd name="adj" fmla="val 3500"/>
            </a:avLst>
          </a:prstGeom>
          <a:solidFill>
            <a:srgbClr val="F7F8F8"/>
          </a:solidFill>
          <a:ln w="11430">
            <a:solidFill>
              <a:srgbClr val="A9B3B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29154" y="685783"/>
            <a:ext cx="6172046" cy="1981150"/>
          </a:xfrm>
          <a:prstGeom prst="roundRect">
            <a:avLst>
              <a:gd name="adj" fmla="val 3500"/>
            </a:avLst>
          </a:prstGeom>
          <a:solidFill>
            <a:srgbClr val="F7F8F8"/>
          </a:solidFill>
          <a:ln w="11430">
            <a:solidFill>
              <a:srgbClr val="A9B3B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90495" y="3047924"/>
            <a:ext cx="11810705" cy="1447764"/>
          </a:xfrm>
          <a:prstGeom prst="roundRect">
            <a:avLst>
              <a:gd name="adj" fmla="val 3500"/>
            </a:avLst>
          </a:prstGeom>
          <a:solidFill>
            <a:srgbClr val="F7F8F8"/>
          </a:solidFill>
          <a:ln w="11430">
            <a:solidFill>
              <a:srgbClr val="A9B3B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0495" y="4952876"/>
            <a:ext cx="11810705" cy="1181070"/>
          </a:xfrm>
          <a:prstGeom prst="roundRect">
            <a:avLst>
              <a:gd name="adj" fmla="val 3500"/>
            </a:avLst>
          </a:prstGeom>
          <a:solidFill>
            <a:srgbClr val="F7F8F8"/>
          </a:solidFill>
          <a:ln w="11430">
            <a:solidFill>
              <a:srgbClr val="A9B3B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19170" y="1523962"/>
            <a:ext cx="190495" cy="0"/>
          </a:xfrm>
          <a:prstGeom prst="line">
            <a:avLst/>
          </a:prstGeom>
          <a:ln w="15875">
            <a:solidFill>
              <a:srgbClr val="374E55"/>
            </a:solidFill>
            <a:tailEnd type="triangle" w="med" len="med"/>
          </a:ln>
        </p:spPr>
      </p:cxnSp>
      <p:cxnSp>
        <p:nvCxnSpPr>
          <p:cNvPr id="7" name="Connector 6"/>
          <p:cNvCxnSpPr/>
          <p:nvPr/>
        </p:nvCxnSpPr>
        <p:spPr>
          <a:xfrm>
            <a:off x="2285943" y="1523962"/>
            <a:ext cx="190495" cy="0"/>
          </a:xfrm>
          <a:prstGeom prst="line">
            <a:avLst/>
          </a:prstGeom>
          <a:ln w="15875">
            <a:solidFill>
              <a:srgbClr val="374E55"/>
            </a:solidFill>
            <a:tailEnd type="triangle" w="med" len="med"/>
          </a:ln>
        </p:spPr>
      </p:cxnSp>
      <p:cxnSp>
        <p:nvCxnSpPr>
          <p:cNvPr id="8" name="Connector 7"/>
          <p:cNvCxnSpPr/>
          <p:nvPr/>
        </p:nvCxnSpPr>
        <p:spPr>
          <a:xfrm>
            <a:off x="3352716" y="1523962"/>
            <a:ext cx="190495" cy="0"/>
          </a:xfrm>
          <a:prstGeom prst="line">
            <a:avLst/>
          </a:prstGeom>
          <a:ln w="15875">
            <a:solidFill>
              <a:srgbClr val="374E55"/>
            </a:solidFill>
            <a:tailEnd type="triangle" w="med" len="med"/>
          </a:ln>
        </p:spPr>
      </p:cxnSp>
      <p:cxnSp>
        <p:nvCxnSpPr>
          <p:cNvPr id="9" name="Connector 8"/>
          <p:cNvCxnSpPr/>
          <p:nvPr/>
        </p:nvCxnSpPr>
        <p:spPr>
          <a:xfrm>
            <a:off x="4419489" y="1523962"/>
            <a:ext cx="190496" cy="0"/>
          </a:xfrm>
          <a:prstGeom prst="line">
            <a:avLst/>
          </a:prstGeom>
          <a:ln w="15875">
            <a:solidFill>
              <a:srgbClr val="374E55"/>
            </a:solidFill>
            <a:tailEnd type="triangle" w="med" len="med"/>
          </a:ln>
        </p:spPr>
      </p:cxnSp>
      <p:cxnSp>
        <p:nvCxnSpPr>
          <p:cNvPr id="10" name="Connector 9"/>
          <p:cNvCxnSpPr/>
          <p:nvPr/>
        </p:nvCxnSpPr>
        <p:spPr>
          <a:xfrm>
            <a:off x="5486263" y="1523962"/>
            <a:ext cx="228594" cy="0"/>
          </a:xfrm>
          <a:prstGeom prst="line">
            <a:avLst/>
          </a:prstGeom>
          <a:ln w="15875">
            <a:solidFill>
              <a:srgbClr val="374E55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5714857" y="1523962"/>
            <a:ext cx="0" cy="228594"/>
          </a:xfrm>
          <a:prstGeom prst="line">
            <a:avLst/>
          </a:prstGeom>
          <a:ln w="15875">
            <a:solidFill>
              <a:srgbClr val="374E5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5714857" y="1752556"/>
            <a:ext cx="266693" cy="0"/>
          </a:xfrm>
          <a:prstGeom prst="line">
            <a:avLst/>
          </a:prstGeom>
          <a:ln w="15875">
            <a:solidFill>
              <a:srgbClr val="374E55"/>
            </a:solidFill>
            <a:tailEnd type="triangle" w="med" len="med"/>
          </a:ln>
        </p:spPr>
      </p:cxnSp>
      <p:cxnSp>
        <p:nvCxnSpPr>
          <p:cNvPr id="13" name="Connector 12"/>
          <p:cNvCxnSpPr/>
          <p:nvPr/>
        </p:nvCxnSpPr>
        <p:spPr>
          <a:xfrm>
            <a:off x="7315017" y="1752556"/>
            <a:ext cx="228594" cy="0"/>
          </a:xfrm>
          <a:prstGeom prst="line">
            <a:avLst/>
          </a:prstGeom>
          <a:ln w="15875">
            <a:solidFill>
              <a:srgbClr val="374E5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7543611" y="1242029"/>
            <a:ext cx="0" cy="510527"/>
          </a:xfrm>
          <a:prstGeom prst="line">
            <a:avLst/>
          </a:prstGeom>
          <a:ln w="15875">
            <a:solidFill>
              <a:srgbClr val="374E5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7543611" y="1242029"/>
            <a:ext cx="228595" cy="0"/>
          </a:xfrm>
          <a:prstGeom prst="line">
            <a:avLst/>
          </a:prstGeom>
          <a:ln w="15875">
            <a:solidFill>
              <a:srgbClr val="374E55"/>
            </a:solidFill>
            <a:tailEnd type="triangle" w="med" len="med"/>
          </a:ln>
        </p:spPr>
      </p:cxnSp>
      <p:cxnSp>
        <p:nvCxnSpPr>
          <p:cNvPr id="16" name="Connector 15"/>
          <p:cNvCxnSpPr/>
          <p:nvPr/>
        </p:nvCxnSpPr>
        <p:spPr>
          <a:xfrm>
            <a:off x="9486663" y="1242029"/>
            <a:ext cx="266693" cy="0"/>
          </a:xfrm>
          <a:prstGeom prst="line">
            <a:avLst/>
          </a:prstGeom>
          <a:ln w="15875">
            <a:solidFill>
              <a:srgbClr val="374E5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9753356" y="1242029"/>
            <a:ext cx="0" cy="510527"/>
          </a:xfrm>
          <a:prstGeom prst="line">
            <a:avLst/>
          </a:prstGeom>
          <a:ln w="15875">
            <a:solidFill>
              <a:srgbClr val="374E55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9753356" y="1752556"/>
            <a:ext cx="304792" cy="0"/>
          </a:xfrm>
          <a:prstGeom prst="line">
            <a:avLst/>
          </a:prstGeom>
          <a:ln w="15875">
            <a:solidFill>
              <a:srgbClr val="374E55"/>
            </a:solidFill>
            <a:tailEnd type="triangle" w="med" len="med"/>
          </a:ln>
        </p:spPr>
      </p:cxnSp>
      <p:cxnSp>
        <p:nvCxnSpPr>
          <p:cNvPr id="19" name="Connector 18"/>
          <p:cNvCxnSpPr/>
          <p:nvPr/>
        </p:nvCxnSpPr>
        <p:spPr>
          <a:xfrm>
            <a:off x="7315017" y="1752556"/>
            <a:ext cx="228594" cy="0"/>
          </a:xfrm>
          <a:prstGeom prst="line">
            <a:avLst/>
          </a:prstGeom>
          <a:ln w="15875">
            <a:solidFill>
              <a:srgbClr val="374E55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7543611" y="1752556"/>
            <a:ext cx="0" cy="7620"/>
          </a:xfrm>
          <a:prstGeom prst="line">
            <a:avLst/>
          </a:prstGeom>
          <a:ln w="15875">
            <a:solidFill>
              <a:srgbClr val="374E5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7543611" y="1760176"/>
            <a:ext cx="228595" cy="0"/>
          </a:xfrm>
          <a:prstGeom prst="line">
            <a:avLst/>
          </a:prstGeom>
          <a:ln w="15875">
            <a:solidFill>
              <a:srgbClr val="374E55"/>
            </a:solidFill>
            <a:tailEnd type="triangle" w="med" len="med"/>
          </a:ln>
        </p:spPr>
      </p:cxnSp>
      <p:cxnSp>
        <p:nvCxnSpPr>
          <p:cNvPr id="22" name="Connector 21"/>
          <p:cNvCxnSpPr/>
          <p:nvPr/>
        </p:nvCxnSpPr>
        <p:spPr>
          <a:xfrm>
            <a:off x="9486663" y="1760176"/>
            <a:ext cx="266693" cy="0"/>
          </a:xfrm>
          <a:prstGeom prst="line">
            <a:avLst/>
          </a:prstGeom>
          <a:ln w="15875">
            <a:solidFill>
              <a:srgbClr val="374E55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9753356" y="1752556"/>
            <a:ext cx="0" cy="7620"/>
          </a:xfrm>
          <a:prstGeom prst="line">
            <a:avLst/>
          </a:prstGeom>
          <a:ln w="15875">
            <a:solidFill>
              <a:srgbClr val="374E55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9753356" y="1752556"/>
            <a:ext cx="304792" cy="0"/>
          </a:xfrm>
          <a:prstGeom prst="line">
            <a:avLst/>
          </a:prstGeom>
          <a:ln w="15875">
            <a:solidFill>
              <a:srgbClr val="374E55"/>
            </a:solidFill>
            <a:tailEnd type="triangle" w="med" len="med"/>
          </a:ln>
        </p:spPr>
      </p:cxnSp>
      <p:cxnSp>
        <p:nvCxnSpPr>
          <p:cNvPr id="25" name="Connector 24"/>
          <p:cNvCxnSpPr/>
          <p:nvPr/>
        </p:nvCxnSpPr>
        <p:spPr>
          <a:xfrm>
            <a:off x="7315017" y="1752556"/>
            <a:ext cx="228594" cy="0"/>
          </a:xfrm>
          <a:prstGeom prst="line">
            <a:avLst/>
          </a:prstGeom>
          <a:ln w="15875">
            <a:solidFill>
              <a:srgbClr val="374E55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543611" y="1752556"/>
            <a:ext cx="0" cy="525767"/>
          </a:xfrm>
          <a:prstGeom prst="line">
            <a:avLst/>
          </a:prstGeom>
          <a:ln w="15875">
            <a:solidFill>
              <a:srgbClr val="374E55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43611" y="2278323"/>
            <a:ext cx="228595" cy="0"/>
          </a:xfrm>
          <a:prstGeom prst="line">
            <a:avLst/>
          </a:prstGeom>
          <a:ln w="15875">
            <a:solidFill>
              <a:srgbClr val="374E55"/>
            </a:solidFill>
            <a:tailEnd type="triangle" w="med" len="med"/>
          </a:ln>
        </p:spPr>
      </p:cxnSp>
      <p:cxnSp>
        <p:nvCxnSpPr>
          <p:cNvPr id="28" name="Connector 27"/>
          <p:cNvCxnSpPr/>
          <p:nvPr/>
        </p:nvCxnSpPr>
        <p:spPr>
          <a:xfrm>
            <a:off x="9486663" y="2278323"/>
            <a:ext cx="266693" cy="0"/>
          </a:xfrm>
          <a:prstGeom prst="line">
            <a:avLst/>
          </a:prstGeom>
          <a:ln w="15875">
            <a:solidFill>
              <a:srgbClr val="374E55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53356" y="1752556"/>
            <a:ext cx="0" cy="525767"/>
          </a:xfrm>
          <a:prstGeom prst="line">
            <a:avLst/>
          </a:prstGeom>
          <a:ln w="15875">
            <a:solidFill>
              <a:srgbClr val="374E55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9753356" y="1752556"/>
            <a:ext cx="304792" cy="0"/>
          </a:xfrm>
          <a:prstGeom prst="line">
            <a:avLst/>
          </a:prstGeom>
          <a:ln w="15875">
            <a:solidFill>
              <a:srgbClr val="374E55"/>
            </a:solidFill>
            <a:tailEnd type="triangle" w="med" len="med"/>
          </a:ln>
        </p:spPr>
      </p:cxnSp>
      <p:cxnSp>
        <p:nvCxnSpPr>
          <p:cNvPr id="31" name="Connector 30"/>
          <p:cNvCxnSpPr/>
          <p:nvPr/>
        </p:nvCxnSpPr>
        <p:spPr>
          <a:xfrm>
            <a:off x="10911567" y="2133546"/>
            <a:ext cx="0" cy="1264889"/>
          </a:xfrm>
          <a:prstGeom prst="line">
            <a:avLst/>
          </a:prstGeom>
          <a:ln w="15875">
            <a:solidFill>
              <a:srgbClr val="374E55"/>
            </a:solidFill>
          </a:ln>
        </p:spPr>
      </p:cxnSp>
      <p:cxnSp>
        <p:nvCxnSpPr>
          <p:cNvPr id="32" name="Connector 31"/>
          <p:cNvCxnSpPr/>
          <p:nvPr/>
        </p:nvCxnSpPr>
        <p:spPr>
          <a:xfrm flipH="1">
            <a:off x="2628834" y="3398435"/>
            <a:ext cx="8282733" cy="0"/>
          </a:xfrm>
          <a:prstGeom prst="line">
            <a:avLst/>
          </a:prstGeom>
          <a:ln w="15875">
            <a:solidFill>
              <a:srgbClr val="374E55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2628834" y="3398435"/>
            <a:ext cx="0" cy="30479"/>
          </a:xfrm>
          <a:prstGeom prst="line">
            <a:avLst/>
          </a:prstGeom>
          <a:ln w="15875">
            <a:solidFill>
              <a:srgbClr val="374E55"/>
            </a:solidFill>
            <a:tailEnd type="triangle" w="med" len="med"/>
          </a:ln>
        </p:spPr>
      </p:cxnSp>
      <p:cxnSp>
        <p:nvCxnSpPr>
          <p:cNvPr id="34" name="Connector 33"/>
          <p:cNvCxnSpPr/>
          <p:nvPr/>
        </p:nvCxnSpPr>
        <p:spPr>
          <a:xfrm>
            <a:off x="3886103" y="3794665"/>
            <a:ext cx="609585" cy="0"/>
          </a:xfrm>
          <a:prstGeom prst="line">
            <a:avLst/>
          </a:prstGeom>
          <a:ln w="15875">
            <a:solidFill>
              <a:srgbClr val="374E55"/>
            </a:solidFill>
            <a:tailEnd type="triangle" w="med" len="med"/>
          </a:ln>
        </p:spPr>
      </p:cxnSp>
      <p:cxnSp>
        <p:nvCxnSpPr>
          <p:cNvPr id="35" name="Connector 34"/>
          <p:cNvCxnSpPr/>
          <p:nvPr/>
        </p:nvCxnSpPr>
        <p:spPr>
          <a:xfrm>
            <a:off x="6553036" y="3794665"/>
            <a:ext cx="533387" cy="0"/>
          </a:xfrm>
          <a:prstGeom prst="line">
            <a:avLst/>
          </a:prstGeom>
          <a:ln w="15875">
            <a:solidFill>
              <a:srgbClr val="374E55"/>
            </a:solidFill>
            <a:tailEnd type="triangle" w="med" len="med"/>
          </a:ln>
        </p:spPr>
      </p:cxnSp>
      <p:cxnSp>
        <p:nvCxnSpPr>
          <p:cNvPr id="36" name="Connector 35"/>
          <p:cNvCxnSpPr/>
          <p:nvPr/>
        </p:nvCxnSpPr>
        <p:spPr>
          <a:xfrm>
            <a:off x="5044314" y="1866853"/>
            <a:ext cx="0" cy="876278"/>
          </a:xfrm>
          <a:prstGeom prst="line">
            <a:avLst/>
          </a:prstGeom>
          <a:ln w="15875">
            <a:solidFill>
              <a:srgbClr val="52616E"/>
            </a:solidFill>
          </a:ln>
        </p:spPr>
      </p:cxnSp>
      <p:cxnSp>
        <p:nvCxnSpPr>
          <p:cNvPr id="37" name="Connector 36"/>
          <p:cNvCxnSpPr/>
          <p:nvPr/>
        </p:nvCxnSpPr>
        <p:spPr>
          <a:xfrm flipH="1">
            <a:off x="76198" y="2743131"/>
            <a:ext cx="4968116" cy="0"/>
          </a:xfrm>
          <a:prstGeom prst="line">
            <a:avLst/>
          </a:prstGeom>
          <a:ln w="15875">
            <a:solidFill>
              <a:srgbClr val="52616E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76198" y="2743131"/>
            <a:ext cx="0" cy="1904952"/>
          </a:xfrm>
          <a:prstGeom prst="line">
            <a:avLst/>
          </a:prstGeom>
          <a:ln w="15875">
            <a:solidFill>
              <a:srgbClr val="52616E"/>
            </a:solidFill>
          </a:ln>
        </p:spPr>
      </p:cxnSp>
      <p:cxnSp>
        <p:nvCxnSpPr>
          <p:cNvPr id="39" name="Connector 38"/>
          <p:cNvCxnSpPr/>
          <p:nvPr/>
        </p:nvCxnSpPr>
        <p:spPr>
          <a:xfrm>
            <a:off x="76198" y="4648083"/>
            <a:ext cx="8038899" cy="0"/>
          </a:xfrm>
          <a:prstGeom prst="line">
            <a:avLst/>
          </a:prstGeom>
          <a:ln w="15875">
            <a:solidFill>
              <a:srgbClr val="52616E"/>
            </a:solidFill>
          </a:ln>
        </p:spPr>
      </p:cxnSp>
      <p:cxnSp>
        <p:nvCxnSpPr>
          <p:cNvPr id="40" name="Connector 39"/>
          <p:cNvCxnSpPr/>
          <p:nvPr/>
        </p:nvCxnSpPr>
        <p:spPr>
          <a:xfrm flipV="1">
            <a:off x="8115097" y="4152796"/>
            <a:ext cx="0" cy="495287"/>
          </a:xfrm>
          <a:prstGeom prst="line">
            <a:avLst/>
          </a:prstGeom>
          <a:ln w="15875">
            <a:solidFill>
              <a:srgbClr val="52616E"/>
            </a:solidFill>
            <a:tailEnd type="triangle" w="med" len="med"/>
          </a:ln>
        </p:spPr>
      </p:cxnSp>
      <p:cxnSp>
        <p:nvCxnSpPr>
          <p:cNvPr id="41" name="Connector 40"/>
          <p:cNvCxnSpPr/>
          <p:nvPr/>
        </p:nvCxnSpPr>
        <p:spPr>
          <a:xfrm>
            <a:off x="9143771" y="3794665"/>
            <a:ext cx="533387" cy="0"/>
          </a:xfrm>
          <a:prstGeom prst="line">
            <a:avLst/>
          </a:prstGeom>
          <a:ln w="15875">
            <a:solidFill>
              <a:srgbClr val="374E55"/>
            </a:solidFill>
            <a:tailEnd type="triangle" w="med" len="med"/>
          </a:ln>
        </p:spPr>
      </p:cxnSp>
      <p:cxnSp>
        <p:nvCxnSpPr>
          <p:cNvPr id="42" name="Connector 41"/>
          <p:cNvCxnSpPr/>
          <p:nvPr/>
        </p:nvCxnSpPr>
        <p:spPr>
          <a:xfrm>
            <a:off x="10728692" y="4152796"/>
            <a:ext cx="0" cy="1203930"/>
          </a:xfrm>
          <a:prstGeom prst="line">
            <a:avLst/>
          </a:prstGeom>
          <a:ln w="15875">
            <a:solidFill>
              <a:srgbClr val="374E55"/>
            </a:solidFill>
          </a:ln>
        </p:spPr>
      </p:cxnSp>
      <p:cxnSp>
        <p:nvCxnSpPr>
          <p:cNvPr id="43" name="Connector 42"/>
          <p:cNvCxnSpPr/>
          <p:nvPr/>
        </p:nvCxnSpPr>
        <p:spPr>
          <a:xfrm flipH="1">
            <a:off x="1866853" y="5356726"/>
            <a:ext cx="8861839" cy="0"/>
          </a:xfrm>
          <a:prstGeom prst="line">
            <a:avLst/>
          </a:prstGeom>
          <a:ln w="15875">
            <a:solidFill>
              <a:srgbClr val="374E55"/>
            </a:solidFill>
          </a:ln>
        </p:spPr>
      </p:cxnSp>
      <p:cxnSp>
        <p:nvCxnSpPr>
          <p:cNvPr id="44" name="Connector 43"/>
          <p:cNvCxnSpPr/>
          <p:nvPr/>
        </p:nvCxnSpPr>
        <p:spPr>
          <a:xfrm>
            <a:off x="1866853" y="5356726"/>
            <a:ext cx="0" cy="68578"/>
          </a:xfrm>
          <a:prstGeom prst="line">
            <a:avLst/>
          </a:prstGeom>
          <a:ln w="15875">
            <a:solidFill>
              <a:srgbClr val="374E55"/>
            </a:solidFill>
            <a:tailEnd type="triangle" w="med" len="med"/>
          </a:ln>
        </p:spPr>
      </p:cxnSp>
      <p:cxnSp>
        <p:nvCxnSpPr>
          <p:cNvPr id="45" name="Connector 44"/>
          <p:cNvCxnSpPr/>
          <p:nvPr/>
        </p:nvCxnSpPr>
        <p:spPr>
          <a:xfrm>
            <a:off x="3124122" y="5653898"/>
            <a:ext cx="609585" cy="0"/>
          </a:xfrm>
          <a:prstGeom prst="line">
            <a:avLst/>
          </a:prstGeom>
          <a:ln w="15875">
            <a:solidFill>
              <a:srgbClr val="374E55"/>
            </a:solidFill>
            <a:tailEnd type="triangle" w="med" len="med"/>
          </a:ln>
        </p:spPr>
      </p:cxnSp>
      <p:cxnSp>
        <p:nvCxnSpPr>
          <p:cNvPr id="46" name="Connector 45"/>
          <p:cNvCxnSpPr/>
          <p:nvPr/>
        </p:nvCxnSpPr>
        <p:spPr>
          <a:xfrm>
            <a:off x="6248244" y="5653898"/>
            <a:ext cx="609584" cy="0"/>
          </a:xfrm>
          <a:prstGeom prst="line">
            <a:avLst/>
          </a:prstGeom>
          <a:ln w="15875">
            <a:solidFill>
              <a:srgbClr val="374E55"/>
            </a:solidFill>
            <a:tailEnd type="triangle" w="med" len="med"/>
          </a:ln>
        </p:spPr>
      </p:cxnSp>
      <p:sp>
        <p:nvSpPr>
          <p:cNvPr id="47" name="Rectangle 46"/>
          <p:cNvSpPr/>
          <p:nvPr/>
        </p:nvSpPr>
        <p:spPr>
          <a:xfrm>
            <a:off x="342891" y="1181070"/>
            <a:ext cx="876278" cy="685783"/>
          </a:xfrm>
          <a:prstGeom prst="rect">
            <a:avLst/>
          </a:prstGeom>
          <a:solidFill>
            <a:srgbClr val="E5E8E9"/>
          </a:solidFill>
          <a:ln w="16510">
            <a:solidFill>
              <a:srgbClr val="374E55"/>
            </a:solidFill>
          </a:ln>
        </p:spPr>
        <p:txBody>
          <a:bodyPr rtlCol="0" anchor="ctr" wrap="none" lIns="38100" rIns="38100" tIns="12700" bIns="1270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TCGA RNA-seq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Lung and RCC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09665" y="1181070"/>
            <a:ext cx="876278" cy="685783"/>
          </a:xfrm>
          <a:prstGeom prst="rect">
            <a:avLst/>
          </a:prstGeom>
          <a:solidFill>
            <a:srgbClr val="E5E8E9"/>
          </a:solidFill>
          <a:ln w="16510">
            <a:solidFill>
              <a:srgbClr val="374E55"/>
            </a:solidFill>
          </a:ln>
        </p:spPr>
        <p:txBody>
          <a:bodyPr rtlCol="0" anchor="ctr" wrap="none" lIns="38100" rIns="38100" tIns="12700" bIns="1270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Low-count /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near-zero-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variance filter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76438" y="1181070"/>
            <a:ext cx="876278" cy="685783"/>
          </a:xfrm>
          <a:prstGeom prst="rect">
            <a:avLst/>
          </a:prstGeom>
          <a:solidFill>
            <a:srgbClr val="E5E8E9"/>
          </a:solidFill>
          <a:ln w="16510">
            <a:solidFill>
              <a:srgbClr val="374E55"/>
            </a:solidFill>
          </a:ln>
        </p:spPr>
        <p:txBody>
          <a:bodyPr rtlCol="0" anchor="ctr" wrap="none" lIns="38100" rIns="38100" tIns="12700" bIns="1270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DESeq2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median-ratio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normalization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43211" y="1181070"/>
            <a:ext cx="876278" cy="685783"/>
          </a:xfrm>
          <a:prstGeom prst="rect">
            <a:avLst/>
          </a:prstGeom>
          <a:solidFill>
            <a:srgbClr val="E5E8E9"/>
          </a:solidFill>
          <a:ln w="16510">
            <a:solidFill>
              <a:srgbClr val="374E55"/>
            </a:solidFill>
          </a:ln>
        </p:spPr>
        <p:txBody>
          <a:bodyPr rtlCol="0" anchor="ctr" wrap="none" lIns="38100" rIns="38100" tIns="12700" bIns="1270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Variance-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stabilizing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transform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09985" y="1181070"/>
            <a:ext cx="876278" cy="685783"/>
          </a:xfrm>
          <a:prstGeom prst="rect">
            <a:avLst/>
          </a:prstGeom>
          <a:solidFill>
            <a:srgbClr val="E5E8E9"/>
          </a:solidFill>
          <a:ln w="16510">
            <a:solidFill>
              <a:srgbClr val="374E55"/>
            </a:solidFill>
          </a:ln>
        </p:spPr>
        <p:txBody>
          <a:bodyPr rtlCol="0" anchor="ctr" wrap="none" lIns="38100" rIns="38100" tIns="12700" bIns="1270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Train/test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split (80/20)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81550" y="1371566"/>
            <a:ext cx="1333467" cy="761981"/>
          </a:xfrm>
          <a:prstGeom prst="rect">
            <a:avLst/>
          </a:prstGeom>
          <a:solidFill>
            <a:srgbClr val="FBF0E7"/>
          </a:solidFill>
          <a:ln w="16510">
            <a:solidFill>
              <a:srgbClr val="DF8F44"/>
            </a:solidFill>
          </a:ln>
        </p:spPr>
        <p:txBody>
          <a:bodyPr rtlCol="0" anchor="ctr" wrap="none" lIns="38100" rIns="38100" tIns="12700" bIns="1270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PCA + DEG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selection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200 features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206" y="1066773"/>
            <a:ext cx="1714457" cy="350511"/>
          </a:xfrm>
          <a:prstGeom prst="rect">
            <a:avLst/>
          </a:prstGeom>
          <a:solidFill>
            <a:srgbClr val="FBF0E7"/>
          </a:solidFill>
          <a:ln w="16510">
            <a:solidFill>
              <a:srgbClr val="DF8F44"/>
            </a:solidFill>
          </a:ln>
        </p:spPr>
        <p:txBody>
          <a:bodyPr rtlCol="0" anchor="ctr" wrap="none" lIns="38100" rIns="38100" tIns="12700" bIns="1270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PCA/DEG baseline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206" y="1584920"/>
            <a:ext cx="1714457" cy="350511"/>
          </a:xfrm>
          <a:prstGeom prst="rect">
            <a:avLst/>
          </a:prstGeom>
          <a:solidFill>
            <a:srgbClr val="FBF0E7"/>
          </a:solidFill>
          <a:ln w="16510">
            <a:solidFill>
              <a:srgbClr val="DF8F44"/>
            </a:solidFill>
          </a:ln>
        </p:spPr>
        <p:txBody>
          <a:bodyPr rtlCol="0" anchor="ctr" wrap="none" lIns="38100" rIns="38100" tIns="12700" bIns="1270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Autoencoder: 200 to 72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206" y="2103067"/>
            <a:ext cx="1714457" cy="350511"/>
          </a:xfrm>
          <a:prstGeom prst="rect">
            <a:avLst/>
          </a:prstGeom>
          <a:solidFill>
            <a:srgbClr val="FBF0E7"/>
          </a:solidFill>
          <a:ln w="16510">
            <a:solidFill>
              <a:srgbClr val="DF8F44"/>
            </a:solidFill>
          </a:ln>
        </p:spPr>
        <p:txBody>
          <a:bodyPr rtlCol="0" anchor="ctr" wrap="none" lIns="38100" rIns="38100" tIns="12700" bIns="1270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MixUp: minority class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58148" y="1371566"/>
            <a:ext cx="1714457" cy="761981"/>
          </a:xfrm>
          <a:prstGeom prst="rect">
            <a:avLst/>
          </a:prstGeom>
          <a:solidFill>
            <a:srgbClr val="FBF0E7"/>
          </a:solidFill>
          <a:ln w="16510">
            <a:solidFill>
              <a:srgbClr val="DF8F44"/>
            </a:solidFill>
          </a:ln>
        </p:spPr>
        <p:txBody>
          <a:bodyPr rtlCol="0" anchor="ctr" wrap="none" lIns="38100" rIns="38100" tIns="12700" bIns="1270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Training feature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representations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(three alternatives)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71566" y="3428914"/>
            <a:ext cx="2514537" cy="723882"/>
          </a:xfrm>
          <a:prstGeom prst="rect">
            <a:avLst/>
          </a:prstGeom>
          <a:solidFill>
            <a:srgbClr val="DEF3FA"/>
          </a:solidFill>
          <a:ln w="16510">
            <a:solidFill>
              <a:srgbClr val="00A1D5"/>
            </a:solidFill>
          </a:ln>
        </p:spPr>
        <p:txBody>
          <a:bodyPr rtlCol="0" anchor="ctr" wrap="none" lIns="38100" rIns="38100" tIns="12700" bIns="1270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Random Forest / XGBoost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5-fold CV + grid search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(training set only)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95688" y="3428914"/>
            <a:ext cx="2057349" cy="723882"/>
          </a:xfrm>
          <a:prstGeom prst="rect">
            <a:avLst/>
          </a:prstGeom>
          <a:solidFill>
            <a:srgbClr val="DEF3FA"/>
          </a:solidFill>
          <a:ln w="16510">
            <a:solidFill>
              <a:srgbClr val="00A1D5"/>
            </a:solidFill>
          </a:ln>
        </p:spPr>
        <p:txBody>
          <a:bodyPr rtlCol="0" anchor="ctr" wrap="none" lIns="38100" rIns="38100" tIns="12700" bIns="1270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Selected model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Refit on training data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86423" y="3428914"/>
            <a:ext cx="2057349" cy="723882"/>
          </a:xfrm>
          <a:prstGeom prst="rect">
            <a:avLst/>
          </a:prstGeom>
          <a:solidFill>
            <a:srgbClr val="DEF3FA"/>
          </a:solidFill>
          <a:ln w="16510">
            <a:solidFill>
              <a:srgbClr val="00A1D5"/>
            </a:solidFill>
          </a:ln>
        </p:spPr>
        <p:txBody>
          <a:bodyPr rtlCol="0" anchor="ctr" wrap="none" lIns="38100" rIns="38100" tIns="12700" bIns="1270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Held-out test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evaluation (20%)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77158" y="3428914"/>
            <a:ext cx="2095448" cy="723882"/>
          </a:xfrm>
          <a:prstGeom prst="rect">
            <a:avLst/>
          </a:prstGeom>
          <a:solidFill>
            <a:srgbClr val="DEF3FA"/>
          </a:solidFill>
          <a:ln w="16510">
            <a:solidFill>
              <a:srgbClr val="00A1D5"/>
            </a:solidFill>
          </a:ln>
        </p:spPr>
        <p:txBody>
          <a:bodyPr rtlCol="0" anchor="ctr" wrap="none" lIns="38100" rIns="38100" tIns="12700" bIns="1270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Accuracy / PPV / NPV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Sensitivity / Specificity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F1 score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9585" y="5425304"/>
            <a:ext cx="2514537" cy="457189"/>
          </a:xfrm>
          <a:prstGeom prst="rect">
            <a:avLst/>
          </a:prstGeom>
          <a:solidFill>
            <a:srgbClr val="F5E7E7"/>
          </a:solidFill>
          <a:ln w="16510">
            <a:solidFill>
              <a:srgbClr val="B24745"/>
            </a:solidFill>
          </a:ln>
        </p:spPr>
        <p:txBody>
          <a:bodyPr rtlCol="0" anchor="ctr" wrap="none" lIns="38100" rIns="38100" tIns="12700" bIns="1270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SHAP / LIME / VarImp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33707" y="5425304"/>
            <a:ext cx="2514537" cy="457189"/>
          </a:xfrm>
          <a:prstGeom prst="rect">
            <a:avLst/>
          </a:prstGeom>
          <a:solidFill>
            <a:srgbClr val="F5E7E7"/>
          </a:solidFill>
          <a:ln w="16510">
            <a:solidFill>
              <a:srgbClr val="B24745"/>
            </a:solidFill>
          </a:ln>
        </p:spPr>
        <p:txBody>
          <a:bodyPr rtlCol="0" anchor="ctr" wrap="none" lIns="38100" rIns="38100" tIns="12700" bIns="1270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Top-10 important genes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57828" y="5425304"/>
            <a:ext cx="4648084" cy="457189"/>
          </a:xfrm>
          <a:prstGeom prst="rect">
            <a:avLst/>
          </a:prstGeom>
          <a:solidFill>
            <a:srgbClr val="F5E7E7"/>
          </a:solidFill>
          <a:ln w="16510">
            <a:solidFill>
              <a:srgbClr val="B24745"/>
            </a:solidFill>
          </a:ln>
        </p:spPr>
        <p:txBody>
          <a:bodyPr rtlCol="0" anchor="ctr" wrap="none" lIns="38100" rIns="38100" tIns="12700" bIns="1270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Biological validation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9" b="0">
                <a:solidFill>
                  <a:srgbClr val="23313D"/>
                </a:solidFill>
                <a:latin typeface="Times New Roman"/>
              </a:rPr>
              <a:t>Volcano / Venn; GO / literature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4792" y="731502"/>
            <a:ext cx="5227189" cy="24383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39" b="1">
                <a:solidFill>
                  <a:srgbClr val="23313D"/>
                </a:solidFill>
                <a:latin typeface="Times New Roman"/>
              </a:rPr>
              <a:t>01  DATA PREPARATION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3451" y="731502"/>
            <a:ext cx="5951071" cy="24383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39" b="1">
                <a:solidFill>
                  <a:srgbClr val="23313D"/>
                </a:solidFill>
                <a:latin typeface="Times New Roman"/>
              </a:rPr>
              <a:t>02  FEATURE BASIS AND COMPARISON ROUTES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4792" y="3093642"/>
            <a:ext cx="11589730" cy="24383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39" b="1">
                <a:solidFill>
                  <a:srgbClr val="23313D"/>
                </a:solidFill>
                <a:latin typeface="Times New Roman"/>
              </a:rPr>
              <a:t>03  TRAINING AND HELD-OUT EVALUATION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4792" y="4998595"/>
            <a:ext cx="11589730" cy="243834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39" b="1">
                <a:solidFill>
                  <a:srgbClr val="23313D"/>
                </a:solidFill>
                <a:latin typeface="Times New Roman"/>
              </a:rPr>
              <a:t>04  MODEL INTERPRETATION AND BIOLOGICAL VALIDATION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6693" y="30479"/>
            <a:ext cx="11658308" cy="457189"/>
          </a:xfrm>
          <a:prstGeom prst="rect">
            <a:avLst/>
          </a:prstGeom>
          <a:noFill/>
        </p:spPr>
        <p:txBody>
          <a:bodyPr wrap="none" lIns="38100" rIns="38100" tIns="12700" bIns="1270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99" b="1">
                <a:solidFill>
                  <a:srgbClr val="23313D"/>
                </a:solidFill>
                <a:latin typeface="Times New Roman"/>
              </a:rPr>
              <a:t>ML-GAP: RNA-seq Analysis Workflow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